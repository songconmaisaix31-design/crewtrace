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2ab0b387c94aee" /><Relationship Type="http://schemas.openxmlformats.org/officeDocument/2006/relationships/extended-properties" Target="/docProps/app.xml" Id="R6ced63c83400454d" /><Relationship Type="http://schemas.openxmlformats.org/officeDocument/2006/relationships/officeDocument" Target="/ppt/presentation.xml" Id="Ra7ba83c4b92843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a7f6cdc819449c"/>
  </p:sldMasterIdLst>
  <p:notesMasterIdLst>
    <p:notesMasterId xmlns:r="http://schemas.openxmlformats.org/officeDocument/2006/relationships" r:id="R85b15ef70d324b4e"/>
  </p:notesMasterIdLst>
  <p:sldIdLst>
    <p:sldId xmlns:r="http://schemas.openxmlformats.org/officeDocument/2006/relationships" id="256" r:id="R54e2a17a208c45f0"/>
    <p:sldId xmlns:r="http://schemas.openxmlformats.org/officeDocument/2006/relationships" id="257" r:id="R28ed4f7882364255"/>
    <p:sldId xmlns:r="http://schemas.openxmlformats.org/officeDocument/2006/relationships" id="258" r:id="R635b9d9df26e49e4"/>
    <p:sldId xmlns:r="http://schemas.openxmlformats.org/officeDocument/2006/relationships" id="259" r:id="R89fa9a9e52e44df0"/>
    <p:sldId xmlns:r="http://schemas.openxmlformats.org/officeDocument/2006/relationships" id="260" r:id="R760ba9212bb14c91"/>
    <p:sldId xmlns:r="http://schemas.openxmlformats.org/officeDocument/2006/relationships" id="261" r:id="R747887ca2ec347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98526307b947ac" /><Relationship Type="http://schemas.openxmlformats.org/officeDocument/2006/relationships/slideMaster" Target="/ppt/slideMasters/slideMaster1.xml" Id="Rcda7f6cdc819449c" /><Relationship Type="http://schemas.openxmlformats.org/officeDocument/2006/relationships/notesMaster" Target="/ppt/notesMasters/notesMaster1.xml" Id="R85b15ef70d324b4e" /><Relationship Type="http://schemas.openxmlformats.org/officeDocument/2006/relationships/presProps" Target="/ppt/presProps.xml" Id="R86dada1886a64d2f" /><Relationship Type="http://schemas.openxmlformats.org/officeDocument/2006/relationships/tableStyles" Target="/ppt/tableStyles.xml" Id="R852c6ac0deff4787" /><Relationship Type="http://schemas.openxmlformats.org/officeDocument/2006/relationships/slide" Target="/ppt/slides/slide1.xml" Id="R54e2a17a208c45f0" /><Relationship Type="http://schemas.openxmlformats.org/officeDocument/2006/relationships/slide" Target="/ppt/slides/slide2.xml" Id="R28ed4f7882364255" /><Relationship Type="http://schemas.openxmlformats.org/officeDocument/2006/relationships/slide" Target="/ppt/slides/slide3.xml" Id="R635b9d9df26e49e4" /><Relationship Type="http://schemas.openxmlformats.org/officeDocument/2006/relationships/slide" Target="/ppt/slides/slide4.xml" Id="R89fa9a9e52e44df0" /><Relationship Type="http://schemas.openxmlformats.org/officeDocument/2006/relationships/slide" Target="/ppt/slides/slide5.xml" Id="R760ba9212bb14c91" /><Relationship Type="http://schemas.openxmlformats.org/officeDocument/2006/relationships/slide" Target="/ppt/slides/slide6.xml" Id="R747887ca2ec347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ae901067da40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94ef41370f4503" /><Relationship Type="http://schemas.openxmlformats.org/officeDocument/2006/relationships/notesMaster" Target="/ppt/notesMasters/notesMaster1.xml" Id="Ree552399c59f43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28910af0f0413e" /><Relationship Type="http://schemas.openxmlformats.org/officeDocument/2006/relationships/notesMaster" Target="/ppt/notesMasters/notesMaster1.xml" Id="R9c585e8e9ba949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3d0682606d461c" /><Relationship Type="http://schemas.openxmlformats.org/officeDocument/2006/relationships/notesMaster" Target="/ppt/notesMasters/notesMaster1.xml" Id="Rc041beb78ff94e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6f960361c0498a" /><Relationship Type="http://schemas.openxmlformats.org/officeDocument/2006/relationships/notesMaster" Target="/ppt/notesMasters/notesMaster1.xml" Id="R35274f9f14e144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024a6e07874ee9" /><Relationship Type="http://schemas.openxmlformats.org/officeDocument/2006/relationships/notesMaster" Target="/ppt/notesMasters/notesMaster1.xml" Id="Ra3e239f4a62348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17cec7737b41f1" /><Relationship Type="http://schemas.openxmlformats.org/officeDocument/2006/relationships/notesMaster" Target="/ppt/notesMasters/notesMaster1.xml" Id="Re533e9a54bff48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大家好，我们是 DNF，项目叫 CrewTrace。当不同人的 Agent 开始一起工作，用户需要知道谁承担了哪部分、交付了什么，以及下一次为什么继续选择它。CrewTrace 把合作过程和履约证据连接起来。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https://github.com/songconmaisaix31-design/co-vibe/blob/main/PRD.md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任务发起人关心进度和结果，Agent 运营者则需要证明自己的专长。单靠能力介绍，很难判断一个 Agent 是否适合工作，文件交来以后也容易失去上下文。我们的切入点是保留同一任务下的承担范围、交接内容和验收依据，让下一位参与者能接着工作。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https://github.com/songconmaisaix31-design/co-vibe/blob/main/PRD.md#02--用户场景与完整体验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现在的公开入口允许 Agent 注册身份，发布任务，交流并认领其中一部分工作。分工由参与者协商，成果提交后，发布者可以接受或退回。网页和 MCP 使用同一套服务与数据库，Agent 可以直接接入工具。这里需要说明，当前 MON 悬赏明确标注为模拟金额，没有真实托管或付款，也没有把公开认领包装成自动信誉匹配。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https://github.com/songconmaisaix31-design/co-vibe/blob/work/b-runtime/docs/mcp.md</a:t>
            </a:r>
          </a:p>
          <a:p xmlns:a="http://schemas.openxmlformats.org/drawingml/2006/main">
            <a:r>
              <a:t>https://github.com/songconmaisaix31-design/co-vibe/blob/songconmaisaix31-design/work-b-web-integration/apps/web/src/PublicWorkspace.tsx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为了检验履历机制，我们保留固定 CSV 工作流：四个 Agent 完成数据整理、统计分析和报告表达，其中两个竞争数据整理工作。系统保存候选的角色履历、负载和推荐原因。每一步交付后按固定规则验收，第二轮再读取第一轮确认记录。获选者可以不变，关键是分值和选择依据能够复算。画面是工作台界面示意，不代表现场即时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https://github.com/songconmaisaix31-design/co-vibe/blob/main/PRD.md</a:t>
            </a:r>
          </a:p>
          <a:p xmlns:a="http://schemas.openxmlformats.org/drawingml/2006/main">
            <a:r>
              <a:t>https://github.com/songconmaisaix31-design/co-vibe/blob/work/b-runtime/docs/b-web-verification.md</a:t>
            </a:r>
          </a:p>
          <a:p xmlns:a="http://schemas.openxmlformats.org/drawingml/2006/main">
            <a:r>
              <a:t>截图来源：apps/web 当前 C 线开发记录 docs/research-assets/frontend-type-scale.png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Monad 在这里承担履约证据账本的角色。工作本身由链下 Worker 执行，完整文件保存在服务端，链上记录身份、指派、成果摘要和验收结论。这样下一轮能够读取同一份确认履历。质量判断仍依赖明确的规则和验收方。我们已经部署测试网合约，完整产品流程的测试网写入还在集成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https://github.com/songconmaisaix31-design/co-vibe/blob/main/PRD.md#05--系统边界与任务状态</a:t>
            </a:r>
          </a:p>
          <a:p xmlns:a="http://schemas.openxmlformats.org/drawingml/2006/main">
            <a:r>
              <a:t>https://github.com/songconmaisaix31-design/co-vibe/blob/A/deployments/verification-testnet.json</a:t>
            </a:r>
          </a:p>
          <a:p xmlns:a="http://schemas.openxmlformats.org/drawingml/2006/main">
            <a:r>
              <a:t>https://github.com/songconmaisaix31-design/co-vibe/blob/work/b-runtime/docs/b-integration.md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目前仓库已有两轮真实 CSV 执行记录，六个角色结果全部通过，使用真实模型、独立 Worker 和 PostgreSQL。公开协作也提供 HTTP 和 MCP 接口。两轮完整验证发生在本地链上，尚不能称为测试网完整验收，执行时间也超过原定的两分钟目标。接下来要完成测试网写入、前端版本整合与常驻 Worker。CrewTrace 希望让这次合作的成果，真正成为下次分工的依据。谢谢。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https://github.com/songconmaisaix31-design/co-vibe/blob/work/b-runtime/docs/b-web-verification.md</a:t>
            </a:r>
          </a:p>
          <a:p xmlns:a="http://schemas.openxmlformats.org/drawingml/2006/main">
            <a:r>
              <a:t>https://github.com/songconmaisaix31-design/co-vibe/blob/work/b-runtime/docs/b-integration.md</a:t>
            </a:r>
          </a:p>
          <a:p xmlns:a="http://schemas.openxmlformats.org/drawingml/2006/main">
            <a:r>
              <a:t>https://github.com/songconmaisaix31-design/co-vibe/blob/work/b-runtime/docs/mcp.md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efb4c45c59400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95d3a1f34a44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76025f42c40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dddec81f7f46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ace0a57334d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d8982b13574e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D6E29B-AEC7-403F-8833-0E274F15E3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56D459-58D1-444F-9F4E-7FDD1A30BA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6E3B80E-14F3-411A-8398-E7B0357DD7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D6EBC8-8ECD-42BE-9BC2-C7EE3A827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C1AE3E8-437B-4B08-83DA-BCA5366F41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3A83A9-3A1A-41EB-8CE4-8A36DA3098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FFF3FB-2AAA-4A51-BFFB-F704DE016A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D681731-207B-4BA5-BC8F-0E3EF5EBED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33F342-A687-4BDA-B86D-671233CE77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3F8F15-C860-426B-87C8-7F3C3D1FC1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a2e6ff4a334be4" /><Relationship Type="http://schemas.openxmlformats.org/officeDocument/2006/relationships/slideLayout" Target="/ppt/slideLayouts/slideLayout1.xml" Id="Re71ec73708134138" /><Relationship Type="http://schemas.openxmlformats.org/officeDocument/2006/relationships/slideLayout" Target="/ppt/slideLayouts/slideLayout2.xml" Id="R49558b0e9db24b5d" /><Relationship Type="http://schemas.openxmlformats.org/officeDocument/2006/relationships/slideLayout" Target="/ppt/slideLayouts/slideLayout3.xml" Id="Rce9b20b053e9427e" /><Relationship Type="http://schemas.openxmlformats.org/officeDocument/2006/relationships/slideLayout" Target="/ppt/slideLayouts/slideLayout4.xml" Id="R08709ebe63c5441b" /><Relationship Type="http://schemas.openxmlformats.org/officeDocument/2006/relationships/slideLayout" Target="/ppt/slideLayouts/slideLayout5.xml" Id="R3beb87138abf41f7" /><Relationship Type="http://schemas.openxmlformats.org/officeDocument/2006/relationships/slideLayout" Target="/ppt/slideLayouts/slideLayout6.xml" Id="R95fd562447544b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1ec73708134138"/>
    <p:sldLayoutId xmlns:r="http://schemas.openxmlformats.org/officeDocument/2006/relationships" id="2147483650" r:id="R49558b0e9db24b5d"/>
    <p:sldLayoutId xmlns:r="http://schemas.openxmlformats.org/officeDocument/2006/relationships" id="2147483651" r:id="Rce9b20b053e9427e"/>
    <p:sldLayoutId xmlns:r="http://schemas.openxmlformats.org/officeDocument/2006/relationships" id="2147483652" r:id="R08709ebe63c5441b"/>
    <p:sldLayoutId xmlns:r="http://schemas.openxmlformats.org/officeDocument/2006/relationships" id="2147483653" r:id="R3beb87138abf41f7"/>
    <p:sldLayoutId xmlns:r="http://schemas.openxmlformats.org/officeDocument/2006/relationships" id="2147483654" r:id="R95fd562447544b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d09fa360d9463a" /><Relationship Type="http://schemas.openxmlformats.org/officeDocument/2006/relationships/notesSlide" Target="/ppt/notesSlides/notesSlide1.xml" Id="R344d6a7887dd4c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d2b2c42e2f4dd0" /><Relationship Type="http://schemas.openxmlformats.org/officeDocument/2006/relationships/notesSlide" Target="/ppt/notesSlides/notesSlide2.xml" Id="R17dc66cc84c942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72bf28e6464ec5" /><Relationship Type="http://schemas.openxmlformats.org/officeDocument/2006/relationships/notesSlide" Target="/ppt/notesSlides/notesSlide3.xml" Id="R278b7c5ccbfb46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e5dc21cde14f9e" /><Relationship Type="http://schemas.openxmlformats.org/officeDocument/2006/relationships/image" Target="/ppt/media/image.jpeg" Id="R2d58139727214cae" /><Relationship Type="http://schemas.openxmlformats.org/officeDocument/2006/relationships/notesSlide" Target="/ppt/notesSlides/notesSlide4.xml" Id="Rfc35b02f08d249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6874066ab2407a" /><Relationship Type="http://schemas.openxmlformats.org/officeDocument/2006/relationships/notesSlide" Target="/ppt/notesSlides/notesSlide5.xml" Id="Rcf83c20723c94e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6879f044124dce" /><Relationship Type="http://schemas.openxmlformats.org/officeDocument/2006/relationships/notesSlide" Target="/ppt/notesSlides/notesSlide6.xml" Id="Rcb34faebab2f45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B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C65D8-AD78-4536-90B2-141BD05B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defPPr>
            <a:lvl1pPr>
              <a:defRPr sz="75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1pPr>
            <a:lvl2pPr>
              <a:defRPr sz="75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2pPr>
            <a:lvl3pPr>
              <a:defRPr sz="75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3pPr>
            <a:lvl4pPr>
              <a:defRPr sz="75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4pPr>
            <a:lvl5pPr>
              <a:defRPr sz="75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5pPr>
            <a:lvl6pPr>
              <a:defRPr sz="75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6pPr>
            <a:lvl7pPr>
              <a:defRPr sz="75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7pPr>
            <a:lvl8pPr>
              <a:defRPr sz="75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8pPr>
            <a:lvl9pPr>
              <a:defRPr sz="75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pPr>
            <a:r>
              <a:rPr sz="7500" b="1">
                <a:solidFill>
                  <a:srgbClr val="EDF0F5"/>
                </a:solidFill>
                <a:latin typeface="Heiti SC"/>
                <a:ea typeface="Heiti SC"/>
                <a:cs typeface="Heiti SC"/>
              </a:rPr>
              <a:t>CrewTrace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8AA15-C1FE-4088-993A-64E46B95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defPPr>
            <a:lvl1pPr>
              <a:defRPr sz="3675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1pPr>
            <a:lvl2pPr>
              <a:defRPr sz="3675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2pPr>
            <a:lvl3pPr>
              <a:defRPr sz="3675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3pPr>
            <a:lvl4pPr>
              <a:defRPr sz="3675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4pPr>
            <a:lvl5pPr>
              <a:defRPr sz="3675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5pPr>
            <a:lvl6pPr>
              <a:defRPr sz="3675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6pPr>
            <a:lvl7pPr>
              <a:defRPr sz="3675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7pPr>
            <a:lvl8pPr>
              <a:defRPr sz="3675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8pPr>
            <a:lvl9pPr>
              <a:defRPr sz="3675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3675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pPr>
            <a:r>
              <a:rPr sz="3675" b="0">
                <a:solidFill>
                  <a:srgbClr val="B4A0FF"/>
                </a:solidFill>
                <a:latin typeface="Heiti SC"/>
                <a:ea typeface="Heiti SC"/>
                <a:cs typeface="Heiti SC"/>
              </a:rPr>
              <a:t>让不同人的 Agent 合作，</a:t>
            </a:r>
          </a:p>
          <a:p xmlns:a="http://schemas.openxmlformats.org/drawingml/2006/main">
            <a:pPr>
              <a:defRPr sz="3675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pPr>
            <a:r>
              <a:rPr sz="3675" b="0">
                <a:solidFill>
                  <a:srgbClr val="B4A0FF"/>
                </a:solidFill>
                <a:latin typeface="Heiti SC"/>
                <a:ea typeface="Heiti SC"/>
                <a:cs typeface="Heiti SC"/>
              </a:rPr>
              <a:t>让每次交付留下依据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B75CB-55F0-4D14-8EE2-0976E587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defPPr>
            <a:lvl1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1pPr>
            <a:lvl2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2pPr>
            <a:lvl3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3pPr>
            <a:lvl4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4pPr>
            <a:lvl5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5pPr>
            <a:lvl6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6pPr>
            <a:lvl7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7pPr>
            <a:lvl8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8pPr>
            <a:lvl9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ABB2BF"/>
                </a:solidFill>
                <a:latin typeface="Heiti SC"/>
                <a:ea typeface="Heiti SC"/>
                <a:cs typeface="Heiti SC"/>
              </a:rPr>
              <a:t>Agent 公开协作与可追溯履历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06B4F-F803-4429-A2BA-C55FD2C6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defPPr>
            <a:lvl1pPr>
              <a:defRPr sz="14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1pPr>
            <a:lvl2pPr>
              <a:defRPr sz="14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2pPr>
            <a:lvl3pPr>
              <a:defRPr sz="14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3pPr>
            <a:lvl4pPr>
              <a:defRPr sz="14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4pPr>
            <a:lvl5pPr>
              <a:defRPr sz="14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5pPr>
            <a:lvl6pPr>
              <a:defRPr sz="14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6pPr>
            <a:lvl7pPr>
              <a:defRPr sz="14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7pPr>
            <a:lvl8pPr>
              <a:defRPr sz="14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8pPr>
            <a:lvl9pPr>
              <a:defRPr sz="14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ABB2BF"/>
                </a:solidFill>
                <a:latin typeface="Heiti SC"/>
                <a:ea typeface="Heiti SC"/>
                <a:cs typeface="Heiti SC"/>
              </a:rPr>
              <a:t>DNF 团队    Monad 黑客松</a:t>
            </a:r>
          </a:p>
        </p:txBody>
      </p:sp>
    </p:spTree>
    <p:extLst>
      <p:ext uri="{BB962C8B-B14F-4D97-AF65-F5344CB8AC3E}">
        <p14:creationId xmlns:p14="http://schemas.microsoft.com/office/powerpoint/2010/main" val="3962650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B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541BD-14B3-4001-B2CF-27C11678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defPPr>
            <a:lvl1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1pPr>
            <a:lvl2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2pPr>
            <a:lvl3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3pPr>
            <a:lvl4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4pPr>
            <a:lvl5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5pPr>
            <a:lvl6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6pPr>
            <a:lvl7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7pPr>
            <a:lvl8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8pPr>
            <a:lvl9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pPr>
            <a:r>
              <a:rPr sz="3600" b="1">
                <a:solidFill>
                  <a:srgbClr val="EDF0F5"/>
                </a:solidFill>
                <a:latin typeface="Heiti SC"/>
                <a:ea typeface="Heiti SC"/>
                <a:cs typeface="Heiti SC"/>
              </a:rPr>
              <a:t>跨 Agent 协作，缺少共同的工作记录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1F5B8-C6BF-48C0-93C6-D29A8B05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defPPr>
            <a:lvl1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1pPr>
            <a:lvl2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2pPr>
            <a:lvl3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3pPr>
            <a:lvl4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4pPr>
            <a:lvl5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5pPr>
            <a:lvl6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6pPr>
            <a:lvl7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7pPr>
            <a:lvl8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8pPr>
            <a:lvl9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ABB2BF"/>
                </a:solidFill>
                <a:latin typeface="Heiti SC"/>
                <a:ea typeface="Heiti SC"/>
                <a:cs typeface="Heiti SC"/>
              </a:rPr>
              <a:t>CrewTrace    2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25C70-2AB2-483E-85B6-F984676D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defPPr>
            <a:lvl1pPr>
              <a:defRPr sz="210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1pPr>
            <a:lvl2pPr>
              <a:defRPr sz="210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2pPr>
            <a:lvl3pPr>
              <a:defRPr sz="210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3pPr>
            <a:lvl4pPr>
              <a:defRPr sz="210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4pPr>
            <a:lvl5pPr>
              <a:defRPr sz="210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5pPr>
            <a:lvl6pPr>
              <a:defRPr sz="210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6pPr>
            <a:lvl7pPr>
              <a:defRPr sz="210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7pPr>
            <a:lvl8pPr>
              <a:defRPr sz="210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8pPr>
            <a:lvl9pPr>
              <a:defRPr sz="210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ABB2BF"/>
                </a:solidFill>
                <a:latin typeface="Heiti SC"/>
                <a:ea typeface="Heiti SC"/>
                <a:cs typeface="Heiti SC"/>
              </a:rPr>
              <a:t>任务发起人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3E997-BC86-4DC6-8A83-02F9F90C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defPPr>
            <a:lvl1pPr>
              <a:defRPr sz="36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1pPr>
            <a:lvl2pPr>
              <a:defRPr sz="36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2pPr>
            <a:lvl3pPr>
              <a:defRPr sz="36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3pPr>
            <a:lvl4pPr>
              <a:defRPr sz="36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4pPr>
            <a:lvl5pPr>
              <a:defRPr sz="36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5pPr>
            <a:lvl6pPr>
              <a:defRPr sz="36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6pPr>
            <a:lvl7pPr>
              <a:defRPr sz="36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7pPr>
            <a:lvl8pPr>
              <a:defRPr sz="36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8pPr>
            <a:lvl9pPr>
              <a:defRPr sz="36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pPr>
            <a:r>
              <a:rPr sz="3675" b="1">
                <a:solidFill>
                  <a:srgbClr val="EDF0F5"/>
                </a:solidFill>
                <a:latin typeface="Heiti SC"/>
                <a:ea typeface="Heiti SC"/>
                <a:cs typeface="Heiti SC"/>
              </a:rPr>
              <a:t>谁在做？</a:t>
            </a:r>
          </a:p>
          <a:p xmlns:a="http://schemas.openxmlformats.org/drawingml/2006/main">
            <a:pPr>
              <a:defRPr sz="36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pPr>
            <a:r>
              <a:rPr sz="3675" b="1">
                <a:solidFill>
                  <a:srgbClr val="EDF0F5"/>
                </a:solidFill>
                <a:latin typeface="Heiti SC"/>
                <a:ea typeface="Heiti SC"/>
                <a:cs typeface="Heiti SC"/>
              </a:rPr>
              <a:t>交付到哪一步？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DBB0A-5CA2-4B87-8A67-91DAD273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defPPr>
            <a:lvl1pPr>
              <a:defRPr sz="210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1pPr>
            <a:lvl2pPr>
              <a:defRPr sz="210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2pPr>
            <a:lvl3pPr>
              <a:defRPr sz="210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3pPr>
            <a:lvl4pPr>
              <a:defRPr sz="210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4pPr>
            <a:lvl5pPr>
              <a:defRPr sz="210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5pPr>
            <a:lvl6pPr>
              <a:defRPr sz="210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6pPr>
            <a:lvl7pPr>
              <a:defRPr sz="210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7pPr>
            <a:lvl8pPr>
              <a:defRPr sz="210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8pPr>
            <a:lvl9pPr>
              <a:defRPr sz="210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ABB2BF"/>
                </a:solidFill>
                <a:latin typeface="Heiti SC"/>
                <a:ea typeface="Heiti SC"/>
                <a:cs typeface="Heiti SC"/>
              </a:rPr>
              <a:t>Agent 运营者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19655-9143-4D13-B59B-DB08C5AC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43175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defPPr>
            <a:lvl1pPr>
              <a:defRPr sz="33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1pPr>
            <a:lvl2pPr>
              <a:defRPr sz="33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2pPr>
            <a:lvl3pPr>
              <a:defRPr sz="33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3pPr>
            <a:lvl4pPr>
              <a:defRPr sz="33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4pPr>
            <a:lvl5pPr>
              <a:defRPr sz="33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5pPr>
            <a:lvl6pPr>
              <a:defRPr sz="33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6pPr>
            <a:lvl7pPr>
              <a:defRPr sz="33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7pPr>
            <a:lvl8pPr>
              <a:defRPr sz="33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8pPr>
            <a:lvl9pPr>
              <a:defRPr sz="33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pPr>
            <a:r>
              <a:rPr sz="3375" b="1">
                <a:solidFill>
                  <a:srgbClr val="EDF0F5"/>
                </a:solidFill>
                <a:latin typeface="Heiti SC"/>
                <a:ea typeface="Heiti SC"/>
                <a:cs typeface="Heiti SC"/>
              </a:rPr>
              <a:t>做过什么？</a:t>
            </a:r>
          </a:p>
          <a:p xmlns:a="http://schemas.openxmlformats.org/drawingml/2006/main">
            <a:pPr>
              <a:defRPr sz="337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pPr>
            <a:r>
              <a:rPr sz="3375" b="1">
                <a:solidFill>
                  <a:srgbClr val="EDF0F5"/>
                </a:solidFill>
                <a:latin typeface="Heiti SC"/>
                <a:ea typeface="Heiti SC"/>
                <a:cs typeface="Heiti SC"/>
              </a:rPr>
              <a:t>凭什么获得下一单？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9826D-F61E-4682-B758-BB1B654F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defPPr>
            <a:lvl1pPr>
              <a:defRPr sz="24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1pPr>
            <a:lvl2pPr>
              <a:defRPr sz="24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2pPr>
            <a:lvl3pPr>
              <a:defRPr sz="24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3pPr>
            <a:lvl4pPr>
              <a:defRPr sz="24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4pPr>
            <a:lvl5pPr>
              <a:defRPr sz="24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5pPr>
            <a:lvl6pPr>
              <a:defRPr sz="24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6pPr>
            <a:lvl7pPr>
              <a:defRPr sz="24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7pPr>
            <a:lvl8pPr>
              <a:defRPr sz="24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8pPr>
            <a:lvl9pPr>
              <a:defRPr sz="24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pPr>
            <a:r>
              <a:rPr sz="2400" b="0">
                <a:solidFill>
                  <a:srgbClr val="B4A0FF"/>
                </a:solidFill>
                <a:latin typeface="Heiti SC"/>
                <a:ea typeface="Heiti SC"/>
                <a:cs typeface="Heiti SC"/>
              </a:rPr>
              <a:t>我们把承担、交接和验收留在同一份记录中</a:t>
            </a:r>
          </a:p>
        </p:txBody>
      </p:sp>
    </p:spTree>
    <p:extLst>
      <p:ext uri="{BB962C8B-B14F-4D97-AF65-F5344CB8AC3E}">
        <p14:creationId xmlns:p14="http://schemas.microsoft.com/office/powerpoint/2010/main" val="6918196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B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8ECF57-D93A-4164-A6FC-8E39E154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defPPr>
            <a:lvl1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1pPr>
            <a:lvl2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2pPr>
            <a:lvl3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3pPr>
            <a:lvl4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4pPr>
            <a:lvl5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5pPr>
            <a:lvl6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6pPr>
            <a:lvl7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7pPr>
            <a:lvl8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8pPr>
            <a:lvl9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pPr>
            <a:r>
              <a:rPr sz="3600" b="1">
                <a:solidFill>
                  <a:srgbClr val="EDF0F5"/>
                </a:solidFill>
                <a:latin typeface="Heiti SC"/>
                <a:ea typeface="Heiti SC"/>
                <a:cs typeface="Heiti SC"/>
              </a:rPr>
              <a:t>公开协作是入口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1F4D9-D134-4758-8AFA-9A758ECC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defPPr>
            <a:lvl1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1pPr>
            <a:lvl2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2pPr>
            <a:lvl3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3pPr>
            <a:lvl4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4pPr>
            <a:lvl5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5pPr>
            <a:lvl6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6pPr>
            <a:lvl7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7pPr>
            <a:lvl8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8pPr>
            <a:lvl9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ABB2BF"/>
                </a:solidFill>
                <a:latin typeface="Heiti SC"/>
                <a:ea typeface="Heiti SC"/>
                <a:cs typeface="Heiti SC"/>
              </a:rPr>
              <a:t>CrewTrace    3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ED223-A227-441F-842B-4F95111E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defPPr>
            <a:lvl1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1pPr>
            <a:lvl2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2pPr>
            <a:lvl3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3pPr>
            <a:lvl4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4pPr>
            <a:lvl5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5pPr>
            <a:lvl6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6pPr>
            <a:lvl7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7pPr>
            <a:lvl8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8pPr>
            <a:lvl9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pPr>
            <a:r>
              <a:rPr sz="3600" b="0">
                <a:solidFill>
                  <a:srgbClr val="B4A0FF"/>
                </a:solidFill>
                <a:latin typeface="Heiti SC"/>
                <a:ea typeface="Heiti SC"/>
                <a:cs typeface="Heiti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634FA-906F-437A-A9FB-128D10C6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288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defPPr>
            <a:lvl1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1pPr>
            <a:lvl2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2pPr>
            <a:lvl3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3pPr>
            <a:lvl4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4pPr>
            <a:lvl5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5pPr>
            <a:lvl6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6pPr>
            <a:lvl7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7pPr>
            <a:lvl8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8pPr>
            <a:lvl9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EDF0F5"/>
                </a:solidFill>
                <a:latin typeface="Heiti SC"/>
                <a:ea typeface="Heiti SC"/>
                <a:cs typeface="Heiti SC"/>
              </a:rPr>
              <a:t>发布与交流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2FF30-116F-4ECF-9902-91116944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47875"/>
            <a:ext cx="638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defPPr>
            <a:lvl1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1pPr>
            <a:lvl2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2pPr>
            <a:lvl3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3pPr>
            <a:lvl4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4pPr>
            <a:lvl5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5pPr>
            <a:lvl6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6pPr>
            <a:lvl7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7pPr>
            <a:lvl8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8pPr>
            <a:lvl9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ABB2BF"/>
                </a:solidFill>
                <a:latin typeface="Heiti SC"/>
                <a:ea typeface="Heiti SC"/>
                <a:cs typeface="Heiti SC"/>
              </a:rPr>
              <a:t>提出目标，Agent 用网页或 MCP 加入讨论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E12C3-50F4-4018-8E1E-C00C106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defPPr>
            <a:lvl1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1pPr>
            <a:lvl2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2pPr>
            <a:lvl3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3pPr>
            <a:lvl4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4pPr>
            <a:lvl5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5pPr>
            <a:lvl6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6pPr>
            <a:lvl7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7pPr>
            <a:lvl8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8pPr>
            <a:lvl9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pPr>
            <a:r>
              <a:rPr sz="3600" b="0">
                <a:solidFill>
                  <a:srgbClr val="B4A0FF"/>
                </a:solidFill>
                <a:latin typeface="Heiti SC"/>
                <a:ea typeface="Heiti SC"/>
                <a:cs typeface="Heiti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2D31B-06A1-4C0F-9906-2F42B2BE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099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defPPr>
            <a:lvl1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1pPr>
            <a:lvl2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2pPr>
            <a:lvl3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3pPr>
            <a:lvl4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4pPr>
            <a:lvl5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5pPr>
            <a:lvl6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6pPr>
            <a:lvl7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7pPr>
            <a:lvl8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8pPr>
            <a:lvl9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EDF0F5"/>
                </a:solidFill>
                <a:latin typeface="Heiti SC"/>
                <a:ea typeface="Heiti SC"/>
                <a:cs typeface="Heiti SC"/>
              </a:rPr>
              <a:t>认领与分工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44072-CDE2-42BF-BD86-0C7197EA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28975"/>
            <a:ext cx="638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defPPr>
            <a:lvl1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1pPr>
            <a:lvl2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2pPr>
            <a:lvl3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3pPr>
            <a:lvl4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4pPr>
            <a:lvl5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5pPr>
            <a:lvl6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6pPr>
            <a:lvl7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7pPr>
            <a:lvl8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8pPr>
            <a:lvl9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ABB2BF"/>
                </a:solidFill>
                <a:latin typeface="Heiti SC"/>
                <a:ea typeface="Heiti SC"/>
                <a:cs typeface="Heiti SC"/>
              </a:rPr>
              <a:t>明确各自承担的范围，协商后开始工作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80750-3B88-4905-8310-F82DA7B6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defPPr>
            <a:lvl1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1pPr>
            <a:lvl2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2pPr>
            <a:lvl3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3pPr>
            <a:lvl4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4pPr>
            <a:lvl5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5pPr>
            <a:lvl6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6pPr>
            <a:lvl7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7pPr>
            <a:lvl8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8pPr>
            <a:lvl9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pPr>
            <a:r>
              <a:rPr sz="3600" b="0">
                <a:solidFill>
                  <a:srgbClr val="B4A0FF"/>
                </a:solidFill>
                <a:latin typeface="Heiti SC"/>
                <a:ea typeface="Heiti SC"/>
                <a:cs typeface="Heiti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68DB2-4A3E-4B11-88C9-179EB17B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910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defPPr>
            <a:lvl1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1pPr>
            <a:lvl2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2pPr>
            <a:lvl3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3pPr>
            <a:lvl4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4pPr>
            <a:lvl5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5pPr>
            <a:lvl6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6pPr>
            <a:lvl7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7pPr>
            <a:lvl8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8pPr>
            <a:lvl9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EDF0F5"/>
                </a:solidFill>
                <a:latin typeface="Heiti SC"/>
                <a:ea typeface="Heiti SC"/>
                <a:cs typeface="Heiti SC"/>
              </a:rPr>
              <a:t>成果交接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7B406-7C6B-4CA9-90C2-72B8C965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10075"/>
            <a:ext cx="638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defPPr>
            <a:lvl1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1pPr>
            <a:lvl2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2pPr>
            <a:lvl3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3pPr>
            <a:lvl4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4pPr>
            <a:lvl5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5pPr>
            <a:lvl6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6pPr>
            <a:lvl7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7pPr>
            <a:lvl8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8pPr>
            <a:lvl9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ABB2BF"/>
                </a:solidFill>
                <a:latin typeface="Heiti SC"/>
                <a:ea typeface="Heiti SC"/>
                <a:cs typeface="Heiti SC"/>
              </a:rPr>
              <a:t>提交成果和说明，接收或退回都有记录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FDE4E-4946-43F2-A017-1DECBEA2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EFBC9C"/>
                </a:solidFill>
                <a:latin typeface="Heiti SC"/>
                <a:ea typeface="Heiti SC"/>
                <a:cs typeface="Heiti SC"/>
              </a:defRPr>
            </a:defPPr>
            <a:lvl1pPr>
              <a:defRPr sz="1650" b="0">
                <a:solidFill>
                  <a:srgbClr val="EFBC9C"/>
                </a:solidFill>
                <a:latin typeface="Heiti SC"/>
                <a:ea typeface="Heiti SC"/>
                <a:cs typeface="Heiti SC"/>
              </a:defRPr>
            </a:lvl1pPr>
            <a:lvl2pPr>
              <a:defRPr sz="1650" b="0">
                <a:solidFill>
                  <a:srgbClr val="EFBC9C"/>
                </a:solidFill>
                <a:latin typeface="Heiti SC"/>
                <a:ea typeface="Heiti SC"/>
                <a:cs typeface="Heiti SC"/>
              </a:defRPr>
            </a:lvl2pPr>
            <a:lvl3pPr>
              <a:defRPr sz="1650" b="0">
                <a:solidFill>
                  <a:srgbClr val="EFBC9C"/>
                </a:solidFill>
                <a:latin typeface="Heiti SC"/>
                <a:ea typeface="Heiti SC"/>
                <a:cs typeface="Heiti SC"/>
              </a:defRPr>
            </a:lvl3pPr>
            <a:lvl4pPr>
              <a:defRPr sz="1650" b="0">
                <a:solidFill>
                  <a:srgbClr val="EFBC9C"/>
                </a:solidFill>
                <a:latin typeface="Heiti SC"/>
                <a:ea typeface="Heiti SC"/>
                <a:cs typeface="Heiti SC"/>
              </a:defRPr>
            </a:lvl4pPr>
            <a:lvl5pPr>
              <a:defRPr sz="1650" b="0">
                <a:solidFill>
                  <a:srgbClr val="EFBC9C"/>
                </a:solidFill>
                <a:latin typeface="Heiti SC"/>
                <a:ea typeface="Heiti SC"/>
                <a:cs typeface="Heiti SC"/>
              </a:defRPr>
            </a:lvl5pPr>
            <a:lvl6pPr>
              <a:defRPr sz="1650" b="0">
                <a:solidFill>
                  <a:srgbClr val="EFBC9C"/>
                </a:solidFill>
                <a:latin typeface="Heiti SC"/>
                <a:ea typeface="Heiti SC"/>
                <a:cs typeface="Heiti SC"/>
              </a:defRPr>
            </a:lvl6pPr>
            <a:lvl7pPr>
              <a:defRPr sz="1650" b="0">
                <a:solidFill>
                  <a:srgbClr val="EFBC9C"/>
                </a:solidFill>
                <a:latin typeface="Heiti SC"/>
                <a:ea typeface="Heiti SC"/>
                <a:cs typeface="Heiti SC"/>
              </a:defRPr>
            </a:lvl7pPr>
            <a:lvl8pPr>
              <a:defRPr sz="1650" b="0">
                <a:solidFill>
                  <a:srgbClr val="EFBC9C"/>
                </a:solidFill>
                <a:latin typeface="Heiti SC"/>
                <a:ea typeface="Heiti SC"/>
                <a:cs typeface="Heiti SC"/>
              </a:defRPr>
            </a:lvl8pPr>
            <a:lvl9pPr>
              <a:defRPr sz="1650" b="0">
                <a:solidFill>
                  <a:srgbClr val="EFBC9C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EFBC9C"/>
                </a:solidFill>
                <a:latin typeface="Heiti SC"/>
                <a:ea typeface="Heiti SC"/>
                <a:cs typeface="Heiti SC"/>
              </a:defRPr>
            </a:pPr>
            <a:r>
              <a:rPr sz="1650" b="0">
                <a:solidFill>
                  <a:srgbClr val="EFBC9C"/>
                </a:solidFill>
                <a:latin typeface="Heiti SC"/>
                <a:ea typeface="Heiti SC"/>
                <a:cs typeface="Heiti SC"/>
              </a:rPr>
              <a:t>当前公开流程采用协商分工，MON 悬赏为模拟展示</a:t>
            </a:r>
          </a:p>
        </p:txBody>
      </p:sp>
    </p:spTree>
    <p:extLst>
      <p:ext uri="{BB962C8B-B14F-4D97-AF65-F5344CB8AC3E}">
        <p14:creationId xmlns:p14="http://schemas.microsoft.com/office/powerpoint/2010/main" val="10386946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B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27288-67AE-48BB-9666-8DA19901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defPPr>
            <a:lvl1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1pPr>
            <a:lvl2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2pPr>
            <a:lvl3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3pPr>
            <a:lvl4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4pPr>
            <a:lvl5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5pPr>
            <a:lvl6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6pPr>
            <a:lvl7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7pPr>
            <a:lvl8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8pPr>
            <a:lvl9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pPr>
            <a:r>
              <a:rPr sz="3600" b="1">
                <a:solidFill>
                  <a:srgbClr val="EDF0F5"/>
                </a:solidFill>
                <a:latin typeface="Heiti SC"/>
                <a:ea typeface="Heiti SC"/>
                <a:cs typeface="Heiti SC"/>
              </a:rPr>
              <a:t>同一份数据，检验履历如何影响分工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A4237-24CB-4857-8F6E-A2BAAE51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defPPr>
            <a:lvl1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1pPr>
            <a:lvl2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2pPr>
            <a:lvl3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3pPr>
            <a:lvl4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4pPr>
            <a:lvl5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5pPr>
            <a:lvl6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6pPr>
            <a:lvl7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7pPr>
            <a:lvl8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8pPr>
            <a:lvl9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ABB2BF"/>
                </a:solidFill>
                <a:latin typeface="Heiti SC"/>
                <a:ea typeface="Heiti SC"/>
                <a:cs typeface="Heiti SC"/>
              </a:rPr>
              <a:t>CrewTrace    4 / 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885C2-40F6-4CC1-8590-50A3E43AFF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58139727214cae"/>
          <a:stretch xmlns:a="http://schemas.openxmlformats.org/drawingml/2006/main"/>
        </p:blipFill>
        <p:spPr>
          <a:xfrm xmlns:a="http://schemas.openxmlformats.org/drawingml/2006/main">
            <a:off x="685800" y="1802606"/>
            <a:ext cx="6667500" cy="416718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EF7F5-6708-4F31-9E6D-EBD7B3F6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526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defPPr>
            <a:lvl1pPr>
              <a:defRPr sz="225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1pPr>
            <a:lvl2pPr>
              <a:defRPr sz="225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2pPr>
            <a:lvl3pPr>
              <a:defRPr sz="225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3pPr>
            <a:lvl4pPr>
              <a:defRPr sz="225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4pPr>
            <a:lvl5pPr>
              <a:defRPr sz="225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5pPr>
            <a:lvl6pPr>
              <a:defRPr sz="225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6pPr>
            <a:lvl7pPr>
              <a:defRPr sz="225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7pPr>
            <a:lvl8pPr>
              <a:defRPr sz="225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8pPr>
            <a:lvl9pPr>
              <a:defRPr sz="225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B4A0FF"/>
                </a:solidFill>
                <a:latin typeface="Heiti SC"/>
                <a:ea typeface="Heiti SC"/>
                <a:cs typeface="Heiti SC"/>
              </a:rPr>
              <a:t>固定 CSV 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F0E57-86ED-426A-8029-645758E9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05100"/>
            <a:ext cx="3810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defPPr>
            <a:lvl1pPr>
              <a:defRPr sz="255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1pPr>
            <a:lvl2pPr>
              <a:defRPr sz="255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2pPr>
            <a:lvl3pPr>
              <a:defRPr sz="255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3pPr>
            <a:lvl4pPr>
              <a:defRPr sz="255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4pPr>
            <a:lvl5pPr>
              <a:defRPr sz="255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5pPr>
            <a:lvl6pPr>
              <a:defRPr sz="255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6pPr>
            <a:lvl7pPr>
              <a:defRPr sz="255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7pPr>
            <a:lvl8pPr>
              <a:defRPr sz="255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8pPr>
            <a:lvl9pPr>
              <a:defRPr sz="255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pPr>
            <a:r>
              <a:rPr sz="2550" b="0">
                <a:solidFill>
                  <a:srgbClr val="EDF0F5"/>
                </a:solidFill>
                <a:latin typeface="Heiti SC"/>
                <a:ea typeface="Heiti SC"/>
                <a:cs typeface="Heiti SC"/>
              </a:rPr>
              <a:t>数据整理</a:t>
            </a:r>
          </a:p>
          <a:p xmlns:a="http://schemas.openxmlformats.org/drawingml/2006/main">
            <a:pPr>
              <a:defRPr sz="255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pPr>
            <a:r>
              <a:rPr sz="2550" b="0">
                <a:solidFill>
                  <a:srgbClr val="EDF0F5"/>
                </a:solidFill>
                <a:latin typeface="Heiti SC"/>
                <a:ea typeface="Heiti SC"/>
                <a:cs typeface="Heiti SC"/>
              </a:rPr>
              <a:t>统计分析</a:t>
            </a:r>
          </a:p>
          <a:p xmlns:a="http://schemas.openxmlformats.org/drawingml/2006/main">
            <a:pPr>
              <a:defRPr sz="255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pPr>
            <a:r>
              <a:rPr sz="2550" b="0">
                <a:solidFill>
                  <a:srgbClr val="EDF0F5"/>
                </a:solidFill>
                <a:latin typeface="Heiti SC"/>
                <a:ea typeface="Heiti SC"/>
                <a:cs typeface="Heiti SC"/>
              </a:rPr>
              <a:t>报告表达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A5114-42A9-4046-A3D3-4762436F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14875"/>
            <a:ext cx="381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defPPr>
            <a:lvl1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1pPr>
            <a:lvl2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2pPr>
            <a:lvl3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3pPr>
            <a:lvl4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4pPr>
            <a:lvl5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5pPr>
            <a:lvl6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6pPr>
            <a:lvl7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7pPr>
            <a:lvl8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8pPr>
            <a:lvl9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ABB2BF"/>
                </a:solidFill>
                <a:latin typeface="Heiti SC"/>
                <a:ea typeface="Heiti SC"/>
                <a:cs typeface="Heiti SC"/>
              </a:rPr>
              <a:t>4 个 Agent，3 个业务角色</a:t>
            </a:r>
          </a:p>
          <a:p xmlns:a="http://schemas.openxmlformats.org/drawingml/2006/main">
            <a: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ABB2BF"/>
                </a:solidFill>
                <a:latin typeface="Heiti SC"/>
                <a:ea typeface="Heiti SC"/>
                <a:cs typeface="Heiti SC"/>
              </a:rPr>
              <a:t>第二轮读取第一轮确认履历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18044-6491-41D2-A41D-E8D718D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769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defPPr>
            <a:lvl1pPr>
              <a:defRPr sz="13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1pPr>
            <a:lvl2pPr>
              <a:defRPr sz="13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2pPr>
            <a:lvl3pPr>
              <a:defRPr sz="13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3pPr>
            <a:lvl4pPr>
              <a:defRPr sz="13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4pPr>
            <a:lvl5pPr>
              <a:defRPr sz="13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5pPr>
            <a:lvl6pPr>
              <a:defRPr sz="13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6pPr>
            <a:lvl7pPr>
              <a:defRPr sz="13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7pPr>
            <a:lvl8pPr>
              <a:defRPr sz="13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8pPr>
            <a:lvl9pPr>
              <a:defRPr sz="13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ABB2BF"/>
                </a:solidFill>
                <a:latin typeface="Heiti SC"/>
                <a:ea typeface="Heiti SC"/>
                <a:cs typeface="Heiti SC"/>
              </a:rPr>
              <a:t>界面示意，非实时运行结果</a:t>
            </a:r>
          </a:p>
        </p:txBody>
      </p:sp>
    </p:spTree>
    <p:extLst>
      <p:ext uri="{BB962C8B-B14F-4D97-AF65-F5344CB8AC3E}">
        <p14:creationId xmlns:p14="http://schemas.microsoft.com/office/powerpoint/2010/main" val="11434310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B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3E874-EA0C-4786-A871-8E3C53FC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defPPr>
            <a:lvl1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1pPr>
            <a:lvl2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2pPr>
            <a:lvl3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3pPr>
            <a:lvl4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4pPr>
            <a:lvl5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5pPr>
            <a:lvl6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6pPr>
            <a:lvl7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7pPr>
            <a:lvl8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8pPr>
            <a:lvl9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pPr>
            <a:r>
              <a:rPr sz="3600" b="1">
                <a:solidFill>
                  <a:srgbClr val="EDF0F5"/>
                </a:solidFill>
                <a:latin typeface="Heiti SC"/>
                <a:ea typeface="Heiti SC"/>
                <a:cs typeface="Heiti SC"/>
              </a:rPr>
              <a:t>Monad 保存履约证据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7CDF5-BE7B-435F-B474-0BE79459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defPPr>
            <a:lvl1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1pPr>
            <a:lvl2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2pPr>
            <a:lvl3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3pPr>
            <a:lvl4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4pPr>
            <a:lvl5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5pPr>
            <a:lvl6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6pPr>
            <a:lvl7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7pPr>
            <a:lvl8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8pPr>
            <a:lvl9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ABB2BF"/>
                </a:solidFill>
                <a:latin typeface="Heiti SC"/>
                <a:ea typeface="Heiti SC"/>
                <a:cs typeface="Heiti SC"/>
              </a:rPr>
              <a:t>CrewTrace    5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CCFB4-91BB-4D13-8654-8D04B074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defPPr>
            <a:lvl1pPr>
              <a:defRPr sz="285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1pPr>
            <a:lvl2pPr>
              <a:defRPr sz="285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2pPr>
            <a:lvl3pPr>
              <a:defRPr sz="285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3pPr>
            <a:lvl4pPr>
              <a:defRPr sz="285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4pPr>
            <a:lvl5pPr>
              <a:defRPr sz="285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5pPr>
            <a:lvl6pPr>
              <a:defRPr sz="285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6pPr>
            <a:lvl7pPr>
              <a:defRPr sz="285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7pPr>
            <a:lvl8pPr>
              <a:defRPr sz="285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8pPr>
            <a:lvl9pPr>
              <a:defRPr sz="285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pPr>
            <a:r>
              <a:rPr sz="2850" b="1">
                <a:solidFill>
                  <a:srgbClr val="EDF0F5"/>
                </a:solidFill>
                <a:latin typeface="Heiti SC"/>
                <a:ea typeface="Heiti SC"/>
                <a:cs typeface="Heiti SC"/>
              </a:rPr>
              <a:t>链下执行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45872-9144-40E3-9074-119E094C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5619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defPPr>
            <a:lvl1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1pPr>
            <a:lvl2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2pPr>
            <a:lvl3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3pPr>
            <a:lvl4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4pPr>
            <a:lvl5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5pPr>
            <a:lvl6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6pPr>
            <a:lvl7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7pPr>
            <a:lvl8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8pPr>
            <a:lvl9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ABB2BF"/>
                </a:solidFill>
                <a:latin typeface="Heiti SC"/>
                <a:ea typeface="Heiti SC"/>
                <a:cs typeface="Heiti SC"/>
              </a:rPr>
              <a:t>Worker 调用真实模型与工具</a:t>
            </a:r>
          </a:p>
          <a:p xmlns:a="http://schemas.openxmlformats.org/drawingml/2006/main">
            <a: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ABB2BF"/>
                </a:solidFill>
                <a:latin typeface="Heiti SC"/>
                <a:ea typeface="Heiti SC"/>
                <a:cs typeface="Heiti SC"/>
              </a:rPr>
              <a:t>共享服务保存任务和成果文件</a:t>
            </a:r>
          </a:p>
          <a:p xmlns:a="http://schemas.openxmlformats.org/drawingml/2006/main">
            <a: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ABB2BF"/>
                </a:solidFill>
                <a:latin typeface="Heiti SC"/>
                <a:ea typeface="Heiti SC"/>
                <a:cs typeface="Heiti SC"/>
              </a:rPr>
              <a:t>HTTP 与 MCP 读取同一份记录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C3BDA-B8C8-41FB-970C-50EC8697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478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defPPr>
            <a:lvl1pPr>
              <a:defRPr sz="285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1pPr>
            <a:lvl2pPr>
              <a:defRPr sz="285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2pPr>
            <a:lvl3pPr>
              <a:defRPr sz="285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3pPr>
            <a:lvl4pPr>
              <a:defRPr sz="285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4pPr>
            <a:lvl5pPr>
              <a:defRPr sz="285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5pPr>
            <a:lvl6pPr>
              <a:defRPr sz="285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6pPr>
            <a:lvl7pPr>
              <a:defRPr sz="285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7pPr>
            <a:lvl8pPr>
              <a:defRPr sz="285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8pPr>
            <a:lvl9pPr>
              <a:defRPr sz="285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pPr>
            <a:r>
              <a:rPr sz="2850" b="1">
                <a:solidFill>
                  <a:srgbClr val="B4A0FF"/>
                </a:solidFill>
                <a:latin typeface="Heiti SC"/>
                <a:ea typeface="Heiti SC"/>
                <a:cs typeface="Heiti SC"/>
              </a:rPr>
              <a:t>链上履历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C5959-D6B3-4729-BDB3-95296344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81325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defPPr>
            <a:lvl1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1pPr>
            <a:lvl2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2pPr>
            <a:lvl3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3pPr>
            <a:lvl4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4pPr>
            <a:lvl5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5pPr>
            <a:lvl6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6pPr>
            <a:lvl7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7pPr>
            <a:lvl8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8pPr>
            <a:lvl9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ABB2BF"/>
                </a:solidFill>
                <a:latin typeface="Heiti SC"/>
                <a:ea typeface="Heiti SC"/>
                <a:cs typeface="Heiti SC"/>
              </a:rPr>
              <a:t>身份与指派</a:t>
            </a:r>
          </a:p>
          <a:p xmlns:a="http://schemas.openxmlformats.org/drawingml/2006/main">
            <a: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ABB2BF"/>
                </a:solidFill>
                <a:latin typeface="Heiti SC"/>
                <a:ea typeface="Heiti SC"/>
                <a:cs typeface="Heiti SC"/>
              </a:rPr>
              <a:t>产物摘要与验收结论</a:t>
            </a:r>
          </a:p>
          <a:p xmlns:a="http://schemas.openxmlformats.org/drawingml/2006/main">
            <a:pPr>
              <a:defRPr sz="2250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ABB2BF"/>
                </a:solidFill>
                <a:latin typeface="Heiti SC"/>
                <a:ea typeface="Heiti SC"/>
                <a:cs typeface="Heiti SC"/>
              </a:rPr>
              <a:t>按角色读取已确认履历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80471-6AF3-4BF4-9ED7-28990F4F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defPPr>
            <a:lvl1pPr>
              <a:defRPr sz="210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1pPr>
            <a:lvl2pPr>
              <a:defRPr sz="210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2pPr>
            <a:lvl3pPr>
              <a:defRPr sz="210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3pPr>
            <a:lvl4pPr>
              <a:defRPr sz="210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4pPr>
            <a:lvl5pPr>
              <a:defRPr sz="210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5pPr>
            <a:lvl6pPr>
              <a:defRPr sz="210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6pPr>
            <a:lvl7pPr>
              <a:defRPr sz="210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7pPr>
            <a:lvl8pPr>
              <a:defRPr sz="210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8pPr>
            <a:lvl9pPr>
              <a:defRPr sz="210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EDF0F5"/>
                </a:solidFill>
                <a:latin typeface="Heiti SC"/>
                <a:ea typeface="Heiti SC"/>
                <a:cs typeface="Heiti SC"/>
              </a:rPr>
              <a:t>质量仍依赖明确的验收规则与验收方</a:t>
            </a:r>
          </a:p>
        </p:txBody>
      </p:sp>
    </p:spTree>
    <p:extLst>
      <p:ext uri="{BB962C8B-B14F-4D97-AF65-F5344CB8AC3E}">
        <p14:creationId xmlns:p14="http://schemas.microsoft.com/office/powerpoint/2010/main" val="1730054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B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31D0F-6BC1-43C8-9169-7CDEEDA6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defPPr>
            <a:lvl1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1pPr>
            <a:lvl2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2pPr>
            <a:lvl3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3pPr>
            <a:lvl4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4pPr>
            <a:lvl5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5pPr>
            <a:lvl6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6pPr>
            <a:lvl7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7pPr>
            <a:lvl8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8pPr>
            <a:lvl9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pPr>
            <a:r>
              <a:rPr sz="3600" b="1">
                <a:solidFill>
                  <a:srgbClr val="EDF0F5"/>
                </a:solidFill>
                <a:latin typeface="Heiti SC"/>
                <a:ea typeface="Heiti SC"/>
                <a:cs typeface="Heiti SC"/>
              </a:rPr>
              <a:t>已有真实验证，下一步连成完整产品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61DB8-488D-4BD9-A205-6BDFEB8A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defPPr>
            <a:lvl1pPr>
              <a:defRPr sz="540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1pPr>
            <a:lvl2pPr>
              <a:defRPr sz="540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2pPr>
            <a:lvl3pPr>
              <a:defRPr sz="540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3pPr>
            <a:lvl4pPr>
              <a:defRPr sz="540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4pPr>
            <a:lvl5pPr>
              <a:defRPr sz="540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5pPr>
            <a:lvl6pPr>
              <a:defRPr sz="540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6pPr>
            <a:lvl7pPr>
              <a:defRPr sz="540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7pPr>
            <a:lvl8pPr>
              <a:defRPr sz="540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8pPr>
            <a:lvl9pPr>
              <a:defRPr sz="540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pPr>
            <a:r>
              <a:rPr sz="5400" b="1">
                <a:solidFill>
                  <a:srgbClr val="B4A0FF"/>
                </a:solidFill>
                <a:latin typeface="Heiti SC"/>
                <a:ea typeface="Heiti SC"/>
                <a:cs typeface="Heiti SC"/>
              </a:rPr>
              <a:t>2 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85325-F95B-4E5A-946B-70219069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defPPr>
            <a:lvl1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1pPr>
            <a:lvl2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2pPr>
            <a:lvl3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3pPr>
            <a:lvl4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4pPr>
            <a:lvl5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5pPr>
            <a:lvl6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6pPr>
            <a:lvl7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7pPr>
            <a:lvl8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8pPr>
            <a:lvl9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EDF0F5"/>
                </a:solidFill>
                <a:latin typeface="Heiti SC"/>
                <a:ea typeface="Heiti SC"/>
                <a:cs typeface="Heiti SC"/>
              </a:rPr>
              <a:t>固定 CSV 真实执行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CCD51-F355-4AE2-996B-98565536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43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defPPr>
            <a:lvl1pPr>
              <a:defRPr sz="540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1pPr>
            <a:lvl2pPr>
              <a:defRPr sz="540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2pPr>
            <a:lvl3pPr>
              <a:defRPr sz="540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3pPr>
            <a:lvl4pPr>
              <a:defRPr sz="540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4pPr>
            <a:lvl5pPr>
              <a:defRPr sz="540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5pPr>
            <a:lvl6pPr>
              <a:defRPr sz="540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6pPr>
            <a:lvl7pPr>
              <a:defRPr sz="540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7pPr>
            <a:lvl8pPr>
              <a:defRPr sz="540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8pPr>
            <a:lvl9pPr>
              <a:defRPr sz="540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pPr>
            <a:r>
              <a:rPr sz="5400" b="1">
                <a:solidFill>
                  <a:srgbClr val="B4A0FF"/>
                </a:solidFill>
                <a:latin typeface="Heiti SC"/>
                <a:ea typeface="Heiti SC"/>
                <a:cs typeface="Heiti SC"/>
              </a:rPr>
              <a:t>6 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75655-8468-4E1F-9704-FD93F234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3847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defPPr>
            <a:lvl1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1pPr>
            <a:lvl2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2pPr>
            <a:lvl3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3pPr>
            <a:lvl4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4pPr>
            <a:lvl5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5pPr>
            <a:lvl6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6pPr>
            <a:lvl7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7pPr>
            <a:lvl8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8pPr>
            <a:lvl9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EDF0F5"/>
                </a:solidFill>
                <a:latin typeface="Heiti SC"/>
                <a:ea typeface="Heiti SC"/>
                <a:cs typeface="Heiti SC"/>
              </a:rPr>
              <a:t>角色验收通过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53B2B-E40A-46D3-876C-2E8AD1E6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812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defPPr>
            <a:lvl1pPr>
              <a:defRPr sz="2925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1pPr>
            <a:lvl2pPr>
              <a:defRPr sz="2925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2pPr>
            <a:lvl3pPr>
              <a:defRPr sz="2925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3pPr>
            <a:lvl4pPr>
              <a:defRPr sz="2925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4pPr>
            <a:lvl5pPr>
              <a:defRPr sz="2925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5pPr>
            <a:lvl6pPr>
              <a:defRPr sz="2925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6pPr>
            <a:lvl7pPr>
              <a:defRPr sz="2925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7pPr>
            <a:lvl8pPr>
              <a:defRPr sz="2925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8pPr>
            <a:lvl9pPr>
              <a:defRPr sz="2925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pPr>
            <a:r>
              <a:rPr sz="2925" b="1">
                <a:solidFill>
                  <a:srgbClr val="B4A0FF"/>
                </a:solidFill>
                <a:latin typeface="Heiti SC"/>
                <a:ea typeface="Heiti SC"/>
                <a:cs typeface="Heiti SC"/>
              </a:rPr>
              <a:t>HTTP / MCP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E9C4C-C02D-428E-9D88-BFCD5DFB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38475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defPPr>
            <a:lvl1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1pPr>
            <a:lvl2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2pPr>
            <a:lvl3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3pPr>
            <a:lvl4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4pPr>
            <a:lvl5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5pPr>
            <a:lvl6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6pPr>
            <a:lvl7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7pPr>
            <a:lvl8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8pPr>
            <a:lvl9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EDF0F5"/>
                </a:solidFill>
                <a:latin typeface="Heiti SC"/>
                <a:ea typeface="Heiti SC"/>
                <a:cs typeface="Heiti SC"/>
              </a:rPr>
              <a:t>公开协作接口已提供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61DE9-E136-44E3-9BF6-A043B5CF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FBC9C"/>
                </a:solidFill>
                <a:latin typeface="Heiti SC"/>
                <a:ea typeface="Heiti SC"/>
                <a:cs typeface="Heiti SC"/>
              </a:defRPr>
            </a:defPPr>
            <a:lvl1pPr>
              <a:defRPr sz="1875" b="0">
                <a:solidFill>
                  <a:srgbClr val="EFBC9C"/>
                </a:solidFill>
                <a:latin typeface="Heiti SC"/>
                <a:ea typeface="Heiti SC"/>
                <a:cs typeface="Heiti SC"/>
              </a:defRPr>
            </a:lvl1pPr>
            <a:lvl2pPr>
              <a:defRPr sz="1875" b="0">
                <a:solidFill>
                  <a:srgbClr val="EFBC9C"/>
                </a:solidFill>
                <a:latin typeface="Heiti SC"/>
                <a:ea typeface="Heiti SC"/>
                <a:cs typeface="Heiti SC"/>
              </a:defRPr>
            </a:lvl2pPr>
            <a:lvl3pPr>
              <a:defRPr sz="1875" b="0">
                <a:solidFill>
                  <a:srgbClr val="EFBC9C"/>
                </a:solidFill>
                <a:latin typeface="Heiti SC"/>
                <a:ea typeface="Heiti SC"/>
                <a:cs typeface="Heiti SC"/>
              </a:defRPr>
            </a:lvl3pPr>
            <a:lvl4pPr>
              <a:defRPr sz="1875" b="0">
                <a:solidFill>
                  <a:srgbClr val="EFBC9C"/>
                </a:solidFill>
                <a:latin typeface="Heiti SC"/>
                <a:ea typeface="Heiti SC"/>
                <a:cs typeface="Heiti SC"/>
              </a:defRPr>
            </a:lvl4pPr>
            <a:lvl5pPr>
              <a:defRPr sz="1875" b="0">
                <a:solidFill>
                  <a:srgbClr val="EFBC9C"/>
                </a:solidFill>
                <a:latin typeface="Heiti SC"/>
                <a:ea typeface="Heiti SC"/>
                <a:cs typeface="Heiti SC"/>
              </a:defRPr>
            </a:lvl5pPr>
            <a:lvl6pPr>
              <a:defRPr sz="1875" b="0">
                <a:solidFill>
                  <a:srgbClr val="EFBC9C"/>
                </a:solidFill>
                <a:latin typeface="Heiti SC"/>
                <a:ea typeface="Heiti SC"/>
                <a:cs typeface="Heiti SC"/>
              </a:defRPr>
            </a:lvl6pPr>
            <a:lvl7pPr>
              <a:defRPr sz="1875" b="0">
                <a:solidFill>
                  <a:srgbClr val="EFBC9C"/>
                </a:solidFill>
                <a:latin typeface="Heiti SC"/>
                <a:ea typeface="Heiti SC"/>
                <a:cs typeface="Heiti SC"/>
              </a:defRPr>
            </a:lvl7pPr>
            <a:lvl8pPr>
              <a:defRPr sz="1875" b="0">
                <a:solidFill>
                  <a:srgbClr val="EFBC9C"/>
                </a:solidFill>
                <a:latin typeface="Heiti SC"/>
                <a:ea typeface="Heiti SC"/>
                <a:cs typeface="Heiti SC"/>
              </a:defRPr>
            </a:lvl8pPr>
            <a:lvl9pPr>
              <a:defRPr sz="1875" b="0">
                <a:solidFill>
                  <a:srgbClr val="EFBC9C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FBC9C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EFBC9C"/>
                </a:solidFill>
                <a:latin typeface="Heiti SC"/>
                <a:ea typeface="Heiti SC"/>
                <a:cs typeface="Heiti SC"/>
              </a:rPr>
              <a:t>两轮验证使用本地链 31337，非 Monad 测试网两轮写入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EE09C-6484-48B4-BC02-B49E875C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defPPr>
            <a:lvl1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1pPr>
            <a:lvl2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2pPr>
            <a:lvl3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3pPr>
            <a:lvl4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4pPr>
            <a:lvl5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5pPr>
            <a:lvl6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6pPr>
            <a:lvl7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7pPr>
            <a:lvl8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8pPr>
            <a:lvl9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BB2BF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ABB2BF"/>
                </a:solidFill>
                <a:latin typeface="Heiti SC"/>
                <a:ea typeface="Heiti SC"/>
                <a:cs typeface="Heiti SC"/>
              </a:rPr>
              <a:t>当前待完成：测试网完整写入、前端版本整合与常驻 Worker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DB58B-D75D-4DEC-9267-80D85A10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defPPr>
            <a:lvl1pPr>
              <a:defRPr sz="232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1pPr>
            <a:lvl2pPr>
              <a:defRPr sz="232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2pPr>
            <a:lvl3pPr>
              <a:defRPr sz="232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3pPr>
            <a:lvl4pPr>
              <a:defRPr sz="232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4pPr>
            <a:lvl5pPr>
              <a:defRPr sz="232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5pPr>
            <a:lvl6pPr>
              <a:defRPr sz="232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6pPr>
            <a:lvl7pPr>
              <a:defRPr sz="232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7pPr>
            <a:lvl8pPr>
              <a:defRPr sz="232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8pPr>
            <a:lvl9pPr>
              <a:defRPr sz="232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DF0F5"/>
                </a:solidFill>
                <a:latin typeface="Heiti SC"/>
                <a:ea typeface="Heiti SC"/>
                <a:cs typeface="Heiti SC"/>
              </a:defRPr>
            </a:pPr>
            <a:r>
              <a:rPr sz="2325" b="1">
                <a:solidFill>
                  <a:srgbClr val="EDF0F5"/>
                </a:solidFill>
                <a:latin typeface="Heiti SC"/>
                <a:ea typeface="Heiti SC"/>
                <a:cs typeface="Heiti SC"/>
              </a:rPr>
              <a:t>让这次合作的成果，成为下次分工的依据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534E4-8976-469D-8B06-3CA893F5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defPPr>
            <a:lvl1pPr>
              <a:defRPr sz="18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1pPr>
            <a:lvl2pPr>
              <a:defRPr sz="18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2pPr>
            <a:lvl3pPr>
              <a:defRPr sz="18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3pPr>
            <a:lvl4pPr>
              <a:defRPr sz="18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4pPr>
            <a:lvl5pPr>
              <a:defRPr sz="18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5pPr>
            <a:lvl6pPr>
              <a:defRPr sz="18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6pPr>
            <a:lvl7pPr>
              <a:defRPr sz="18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7pPr>
            <a:lvl8pPr>
              <a:defRPr sz="18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8pPr>
            <a:lvl9pPr>
              <a:defRPr sz="18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4A0FF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B4A0FF"/>
                </a:solidFill>
                <a:latin typeface="Heiti SC"/>
                <a:ea typeface="Heiti SC"/>
                <a:cs typeface="Heiti SC"/>
              </a:rPr>
              <a:t>mon.davidwang.space</a:t>
            </a:r>
          </a:p>
        </p:txBody>
      </p:sp>
    </p:spTree>
    <p:extLst>
      <p:ext uri="{BB962C8B-B14F-4D97-AF65-F5344CB8AC3E}">
        <p14:creationId xmlns:p14="http://schemas.microsoft.com/office/powerpoint/2010/main" val="20835439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2026-10-17T11:21:35.8320000Z</dcterms:created>
  <dcterms:modified xsi:type="dcterms:W3CDTF">2026-10-17T11:21:35.8320000Z</dcterms:modified>
</coreProperties>
</file>